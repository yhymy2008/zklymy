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695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54864" cy="1554480"/>
          </a:xfrm>
          <a:prstGeom prst="rect">
            <a:avLst/>
          </a:prstGeom>
          <a:solidFill>
            <a:srgbClr val="C6953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71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佳膳悠选项目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69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进展汇报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小河马平台 · 全员销售 · 总部大仓履约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2026年7月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6B5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6B5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137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6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业务运行链路与系统交付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3840480" cy="384048"/>
          </a:xfrm>
          <a:prstGeom prst="rect">
            <a:avLst/>
          </a:prstGeom>
          <a:solidFill>
            <a:srgbClr val="0D6B5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业务运行链路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234440" cy="1234440"/>
          </a:xfrm>
          <a:prstGeom prst="rect">
            <a:avLst/>
          </a:prstGeom>
          <a:solidFill>
            <a:srgbClr val="F2F5F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1234440" cy="45720"/>
          </a:xfrm>
          <a:prstGeom prst="rect">
            <a:avLst/>
          </a:prstGeom>
          <a:solidFill>
            <a:srgbClr val="1A8B7B"/>
          </a:solidFill>
          <a:ln/>
        </p:spPr>
      </p:sp>
      <p:sp>
        <p:nvSpPr>
          <p:cNvPr id="9" name="Shape 7"/>
          <p:cNvSpPr/>
          <p:nvPr/>
        </p:nvSpPr>
        <p:spPr>
          <a:xfrm>
            <a:off x="1001268" y="1645920"/>
            <a:ext cx="329184" cy="329184"/>
          </a:xfrm>
          <a:prstGeom prst="ellipse">
            <a:avLst/>
          </a:prstGeom>
          <a:solidFill>
            <a:srgbClr val="1A8B7B"/>
          </a:solidFill>
          <a:ln/>
        </p:spPr>
      </p:sp>
      <p:sp>
        <p:nvSpPr>
          <p:cNvPr id="10" name="Text 8"/>
          <p:cNvSpPr/>
          <p:nvPr/>
        </p:nvSpPr>
        <p:spPr>
          <a:xfrm>
            <a:off x="1001268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" y="205740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消费者下单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33172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小河马平台线上下单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购买佳膳悠选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01368" y="2103120"/>
            <a:ext cx="54864" cy="0"/>
          </a:xfrm>
          <a:prstGeom prst="line">
            <a:avLst/>
          </a:prstGeom>
          <a:noFill/>
          <a:ln w="15240">
            <a:solidFill>
              <a:srgbClr val="BDC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74520" y="1508760"/>
            <a:ext cx="1234440" cy="1234440"/>
          </a:xfrm>
          <a:prstGeom prst="rect">
            <a:avLst/>
          </a:prstGeom>
          <a:solidFill>
            <a:srgbClr val="F2F5F4"/>
          </a:solidFill>
          <a:ln/>
        </p:spPr>
      </p:sp>
      <p:sp>
        <p:nvSpPr>
          <p:cNvPr id="15" name="Shape 13"/>
          <p:cNvSpPr/>
          <p:nvPr/>
        </p:nvSpPr>
        <p:spPr>
          <a:xfrm>
            <a:off x="1874520" y="1508760"/>
            <a:ext cx="1234440" cy="45720"/>
          </a:xfrm>
          <a:prstGeom prst="rect">
            <a:avLst/>
          </a:prstGeom>
          <a:solidFill>
            <a:srgbClr val="1A8B7B"/>
          </a:solidFill>
          <a:ln/>
        </p:spPr>
      </p:sp>
      <p:sp>
        <p:nvSpPr>
          <p:cNvPr id="16" name="Shape 14"/>
          <p:cNvSpPr/>
          <p:nvPr/>
        </p:nvSpPr>
        <p:spPr>
          <a:xfrm>
            <a:off x="2327148" y="1645920"/>
            <a:ext cx="329184" cy="329184"/>
          </a:xfrm>
          <a:prstGeom prst="ellipse">
            <a:avLst/>
          </a:prstGeom>
          <a:solidFill>
            <a:srgbClr val="1A8B7B"/>
          </a:solidFill>
          <a:ln/>
        </p:spPr>
      </p:sp>
      <p:sp>
        <p:nvSpPr>
          <p:cNvPr id="17" name="Text 15"/>
          <p:cNvSpPr/>
          <p:nvPr/>
        </p:nvSpPr>
        <p:spPr>
          <a:xfrm>
            <a:off x="2327148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47672" y="205740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总部大仓履约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47672" y="233172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公司大仓统一发货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直达消费者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27248" y="2103120"/>
            <a:ext cx="54864" cy="0"/>
          </a:xfrm>
          <a:prstGeom prst="line">
            <a:avLst/>
          </a:prstGeom>
          <a:noFill/>
          <a:ln w="15240">
            <a:solidFill>
              <a:srgbClr val="BDC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1508760"/>
            <a:ext cx="1234440" cy="1234440"/>
          </a:xfrm>
          <a:prstGeom prst="rect">
            <a:avLst/>
          </a:prstGeom>
          <a:solidFill>
            <a:srgbClr val="F2F5F4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1508760"/>
            <a:ext cx="1234440" cy="45720"/>
          </a:xfrm>
          <a:prstGeom prst="rect">
            <a:avLst/>
          </a:prstGeom>
          <a:solidFill>
            <a:srgbClr val="C6953A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3028" y="1645920"/>
            <a:ext cx="329184" cy="329184"/>
          </a:xfrm>
          <a:prstGeom prst="ellipse">
            <a:avLst/>
          </a:prstGeom>
          <a:solidFill>
            <a:srgbClr val="C6953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3028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73552" y="205740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门店激励结算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73552" y="233172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中台发放门店激励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小河马领取任务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914400"/>
            <a:ext cx="3840480" cy="384048"/>
          </a:xfrm>
          <a:prstGeom prst="rect">
            <a:avLst/>
          </a:prstGeom>
          <a:solidFill>
            <a:srgbClr val="C6953A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系统关键交付项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1499616"/>
            <a:ext cx="3657600" cy="365760"/>
          </a:xfrm>
          <a:prstGeom prst="rect">
            <a:avLst/>
          </a:prstGeom>
          <a:solidFill>
            <a:srgbClr val="F2F5F4"/>
          </a:solidFill>
          <a:ln/>
        </p:spPr>
      </p:sp>
      <p:sp>
        <p:nvSpPr>
          <p:cNvPr id="30" name="Shape 28"/>
          <p:cNvSpPr/>
          <p:nvPr/>
        </p:nvSpPr>
        <p:spPr>
          <a:xfrm>
            <a:off x="4919472" y="1563624"/>
            <a:ext cx="219456" cy="21945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1563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14813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第三方收款开通（汇付平台）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18120" y="148132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7月2日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1901952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919472" y="1965960"/>
            <a:ext cx="219456" cy="21945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6" name="Text 34"/>
          <p:cNvSpPr/>
          <p:nvPr/>
        </p:nvSpPr>
        <p:spPr>
          <a:xfrm>
            <a:off x="4919472" y="1965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2080" y="18836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绩点奖励流程改造（小河马-中台-达生）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18120" y="188366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7月3日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304288"/>
            <a:ext cx="3657600" cy="365760"/>
          </a:xfrm>
          <a:prstGeom prst="rect">
            <a:avLst/>
          </a:prstGeom>
          <a:solidFill>
            <a:srgbClr val="F2F5F4"/>
          </a:solidFill>
          <a:ln/>
        </p:spPr>
      </p:sp>
      <p:sp>
        <p:nvSpPr>
          <p:cNvPr id="40" name="Shape 38"/>
          <p:cNvSpPr/>
          <p:nvPr/>
        </p:nvSpPr>
        <p:spPr>
          <a:xfrm>
            <a:off x="4919472" y="2368296"/>
            <a:ext cx="219456" cy="21945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1" name="Text 39"/>
          <p:cNvSpPr/>
          <p:nvPr/>
        </p:nvSpPr>
        <p:spPr>
          <a:xfrm>
            <a:off x="4919472" y="23682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0" y="22860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线上下单履约（小河马对接管易云OMS）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18120" y="228600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7月6日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2706624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919472" y="2770632"/>
            <a:ext cx="219456" cy="21945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6" name="Text 44"/>
          <p:cNvSpPr/>
          <p:nvPr/>
        </p:nvSpPr>
        <p:spPr>
          <a:xfrm>
            <a:off x="4919472" y="27706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12080" y="26883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电子发票对接（小河马-电票平台）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818120" y="268833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7月10日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3108960"/>
            <a:ext cx="3657600" cy="365760"/>
          </a:xfrm>
          <a:prstGeom prst="rect">
            <a:avLst/>
          </a:prstGeom>
          <a:solidFill>
            <a:srgbClr val="F2F5F4"/>
          </a:solidFill>
          <a:ln/>
        </p:spPr>
      </p:sp>
      <p:sp>
        <p:nvSpPr>
          <p:cNvPr id="50" name="Shape 48"/>
          <p:cNvSpPr/>
          <p:nvPr/>
        </p:nvSpPr>
        <p:spPr>
          <a:xfrm>
            <a:off x="4919472" y="3172968"/>
            <a:ext cx="219456" cy="21945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1" name="Text 49"/>
          <p:cNvSpPr/>
          <p:nvPr/>
        </p:nvSpPr>
        <p:spPr>
          <a:xfrm>
            <a:off x="4919472" y="3172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12080" y="30906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财务核销流程（管易云OMS-汇付平台）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818120" y="309067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7月17日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46320" y="3511296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4919472" y="3575304"/>
            <a:ext cx="219456" cy="21945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6" name="Text 54"/>
          <p:cNvSpPr/>
          <p:nvPr/>
        </p:nvSpPr>
        <p:spPr>
          <a:xfrm>
            <a:off x="4919472" y="3575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212080" y="34930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全链路业务联调（6方系统集成）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818120" y="34930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7月17日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项系统关键交付全部完成：</a:t>
            </a:r>
            <a:pPr algn="ctr" indent="0" marL="0">
              <a:buNone/>
            </a:pPr>
            <a:r>
              <a:rPr lang="en-US" sz="1300" dirty="0">
                <a:solidFill>
                  <a:srgbClr val="0D6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系统搭建全部完成，全链路业务联调通过，具备正式上线运营能力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6B5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6B5D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137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6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售价测算 · 下一步计划 · 平台价值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4114800" cy="384048"/>
          </a:xfrm>
          <a:prstGeom prst="rect">
            <a:avLst/>
          </a:prstGeom>
          <a:solidFill>
            <a:srgbClr val="0D6B5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售价测算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920240" cy="868680"/>
          </a:xfrm>
          <a:prstGeom prst="rect">
            <a:avLst/>
          </a:prstGeom>
          <a:solidFill>
            <a:srgbClr val="F2F5F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</a:t>
            </a:r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元/罐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平台含税零售价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1508760"/>
            <a:ext cx="1920240" cy="868680"/>
          </a:xfrm>
          <a:prstGeom prst="rect">
            <a:avLst/>
          </a:prstGeom>
          <a:solidFill>
            <a:srgbClr val="F2F5F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69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</a:t>
            </a:r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8-12月预估销量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4114800" cy="274320"/>
          </a:xfrm>
          <a:prstGeom prst="rect">
            <a:avLst/>
          </a:prstGeom>
          <a:solidFill>
            <a:srgbClr val="F2F5F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RSP（建议零售价）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 元/罐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平台含税售价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 元/罐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4114800" cy="274320"/>
          </a:xfrm>
          <a:prstGeom prst="rect">
            <a:avLst/>
          </a:prstGeom>
          <a:solidFill>
            <a:srgbClr val="F2F5F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平台不含税售价 (NNS)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135.4 元/罐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运费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元/罐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4114800" cy="274320"/>
          </a:xfrm>
          <a:prstGeom prst="rect">
            <a:avLst/>
          </a:prstGeom>
          <a:solidFill>
            <a:srgbClr val="F2F5F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汇付平台手续费 (0.6%)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 元/罐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单罐门店激励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元/罐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251960"/>
            <a:ext cx="4114800" cy="274320"/>
          </a:xfrm>
          <a:prstGeom prst="rect">
            <a:avLst/>
          </a:prstGeom>
          <a:solidFill>
            <a:srgbClr val="F2F5F4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B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投资费用申请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万元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914400"/>
            <a:ext cx="3657600" cy="384048"/>
          </a:xfrm>
          <a:prstGeom prst="rect">
            <a:avLst/>
          </a:prstGeom>
          <a:solidFill>
            <a:srgbClr val="C6953A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914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37760" y="1508760"/>
            <a:ext cx="3657600" cy="640080"/>
          </a:xfrm>
          <a:prstGeom prst="rect">
            <a:avLst/>
          </a:prstGeom>
          <a:solidFill>
            <a:srgbClr val="F2F5F4"/>
          </a:solidFill>
          <a:ln/>
        </p:spPr>
      </p:sp>
      <p:sp>
        <p:nvSpPr>
          <p:cNvPr id="37" name="Shape 35"/>
          <p:cNvSpPr/>
          <p:nvPr/>
        </p:nvSpPr>
        <p:spPr>
          <a:xfrm>
            <a:off x="5074920" y="1627632"/>
            <a:ext cx="347472" cy="347472"/>
          </a:xfrm>
          <a:prstGeom prst="ellipse">
            <a:avLst/>
          </a:prstGeom>
          <a:solidFill>
            <a:srgbClr val="1A8B7B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577840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费用申请流程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77840" y="18013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负责人：东达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32320" y="1691640"/>
            <a:ext cx="1371600" cy="256032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待业务反馈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37760" y="2286000"/>
            <a:ext cx="3657600" cy="640080"/>
          </a:xfrm>
          <a:prstGeom prst="rect">
            <a:avLst/>
          </a:prstGeom>
          <a:solidFill>
            <a:srgbClr val="F2F5F4"/>
          </a:solidFill>
          <a:ln/>
        </p:spPr>
      </p:sp>
      <p:sp>
        <p:nvSpPr>
          <p:cNvPr id="44" name="Shape 42"/>
          <p:cNvSpPr/>
          <p:nvPr/>
        </p:nvSpPr>
        <p:spPr>
          <a:xfrm>
            <a:off x="5074920" y="2404872"/>
            <a:ext cx="347472" cy="347472"/>
          </a:xfrm>
          <a:prstGeom prst="ellipse">
            <a:avLst/>
          </a:prstGeom>
          <a:solidFill>
            <a:srgbClr val="1A8B7B"/>
          </a:solidFill>
          <a:ln/>
        </p:spPr>
      </p:sp>
      <p:sp>
        <p:nvSpPr>
          <p:cNvPr id="45" name="Text 43"/>
          <p:cNvSpPr/>
          <p:nvPr/>
        </p:nvSpPr>
        <p:spPr>
          <a:xfrm>
            <a:off x="5074920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577840" y="2331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业务推广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77840" y="2578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负责人：东达 &amp; Digital &amp; CRM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132320" y="2468880"/>
            <a:ext cx="1371600" cy="256032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49" name="Text 47"/>
          <p:cNvSpPr/>
          <p:nvPr/>
        </p:nvSpPr>
        <p:spPr>
          <a:xfrm>
            <a:off x="7132320" y="2468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待启动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937760" y="3200400"/>
            <a:ext cx="3657600" cy="1691640"/>
          </a:xfrm>
          <a:prstGeom prst="rect">
            <a:avLst/>
          </a:prstGeom>
          <a:solidFill>
            <a:srgbClr val="1B2A3A"/>
          </a:solidFill>
          <a:ln/>
        </p:spPr>
      </p:sp>
      <p:sp>
        <p:nvSpPr>
          <p:cNvPr id="51" name="Text 49"/>
          <p:cNvSpPr/>
          <p:nvPr/>
        </p:nvSpPr>
        <p:spPr>
          <a:xfrm>
            <a:off x="5074920" y="3291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9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平台价值与业务支撑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74920" y="37490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9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打通「线上下单 – 大仓履约 – 门店激励」全链路闭环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74920" y="40233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9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支撑公司全员销售佳膳悠选战略落地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074920" y="42976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9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终端门店零库存、零备货，降低运营成本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074920" y="45720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9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依托现有中台能力，可快速复制至更多品类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6B5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佳膳悠选项目进展汇报</dc:title>
  <dc:subject>PptxGenJS Presentation</dc:subject>
  <dc:creator>小河马平台</dc:creator>
  <cp:lastModifiedBy>小河马平台</cp:lastModifiedBy>
  <cp:revision>1</cp:revision>
  <dcterms:created xsi:type="dcterms:W3CDTF">2026-07-26T06:41:44Z</dcterms:created>
  <dcterms:modified xsi:type="dcterms:W3CDTF">2026-07-26T06:41:44Z</dcterms:modified>
</cp:coreProperties>
</file>